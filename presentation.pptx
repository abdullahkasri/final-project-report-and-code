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E522B-A0F5-4DFD-85E3-BA60435D55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811963-2FFC-4B21-BBBA-DB33DF89C6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F8BF1B-FAE0-4DA7-A548-BD03804DD1C9}"/>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5" name="Footer Placeholder 4">
            <a:extLst>
              <a:ext uri="{FF2B5EF4-FFF2-40B4-BE49-F238E27FC236}">
                <a16:creationId xmlns:a16="http://schemas.microsoft.com/office/drawing/2014/main" id="{A44C871B-BC33-4BC4-B66C-ACCD71AB2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25FC6-C3D1-4A4B-AF7B-BD6EE13A424E}"/>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3398715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82FAD-E23B-4CA9-B4C2-8C28DB1D0C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0380C4-C13B-4162-A2C1-25278023CE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4EA84-0A76-4229-9B7A-89CAC46B703B}"/>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5" name="Footer Placeholder 4">
            <a:extLst>
              <a:ext uri="{FF2B5EF4-FFF2-40B4-BE49-F238E27FC236}">
                <a16:creationId xmlns:a16="http://schemas.microsoft.com/office/drawing/2014/main" id="{52154DD0-2FC9-4948-B94B-62D056F12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1B27F0-FC3C-4FD1-A8E1-17BA03C453C6}"/>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2043940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CD4B-90C7-47C3-89D7-25DA6BF5A1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78FAA-5953-4953-9BF5-4C2E18AA27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EBA6FC-B143-46DF-B548-0329DF2944B9}"/>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5" name="Footer Placeholder 4">
            <a:extLst>
              <a:ext uri="{FF2B5EF4-FFF2-40B4-BE49-F238E27FC236}">
                <a16:creationId xmlns:a16="http://schemas.microsoft.com/office/drawing/2014/main" id="{CC912414-BC88-490C-AB3C-844425DEA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69E3A8-D18D-4707-AA78-5A1686DAEA66}"/>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3029223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B7FCA-FA10-40BC-BC29-663D5C4493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A75CCA-BCEA-4351-990C-5A52473AB4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856A2A-B266-4575-AAA1-50061E801C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517603-0DC8-41C7-BBF8-4AC17B6F7D3D}"/>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6" name="Footer Placeholder 5">
            <a:extLst>
              <a:ext uri="{FF2B5EF4-FFF2-40B4-BE49-F238E27FC236}">
                <a16:creationId xmlns:a16="http://schemas.microsoft.com/office/drawing/2014/main" id="{9081B3D1-E728-4D4B-A7AB-7C6F7BDA99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25762-B964-4C47-9ED6-DF72943FC9E5}"/>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2648535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05335-3F8F-4F19-9DEA-34E4DDEF4D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AFCC67-EABC-439A-A4A9-916A198CD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3BB92F-DD8B-4D4B-B959-B6D0B4AE8F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A8664A-1556-4281-9B69-F0908D8B61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E89FB9-17AD-47A7-B0AF-06D9324BBD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10179-094D-4096-BFE1-AF64D4B1557A}"/>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8" name="Footer Placeholder 7">
            <a:extLst>
              <a:ext uri="{FF2B5EF4-FFF2-40B4-BE49-F238E27FC236}">
                <a16:creationId xmlns:a16="http://schemas.microsoft.com/office/drawing/2014/main" id="{0BBE27DC-B63A-4DD9-81FD-B8B89741D1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1B37F9-0BDE-4D7F-80D9-EBA67926AB16}"/>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2152821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7273-92A8-44E8-B4AB-BCAA774253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E92981-B16A-41DF-8E94-B4797D7A0AD7}"/>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4" name="Footer Placeholder 3">
            <a:extLst>
              <a:ext uri="{FF2B5EF4-FFF2-40B4-BE49-F238E27FC236}">
                <a16:creationId xmlns:a16="http://schemas.microsoft.com/office/drawing/2014/main" id="{52D37667-E481-4AD8-99CC-E99622766B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C33C1A-E47A-418D-8D4D-E49065167D31}"/>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493784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1A8F44-FAE5-4E49-BA36-79AFCC07D164}"/>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3" name="Footer Placeholder 2">
            <a:extLst>
              <a:ext uri="{FF2B5EF4-FFF2-40B4-BE49-F238E27FC236}">
                <a16:creationId xmlns:a16="http://schemas.microsoft.com/office/drawing/2014/main" id="{E8A26A6E-4C70-4D24-953E-A4D683775E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9E494B-EDD1-4EDC-AED4-7570AEDB93E3}"/>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3589074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BD18E-C8AD-4285-9174-2956D5CAB6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50CC90-04AF-40CF-B621-731EC815B9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7507F9-42AD-4008-9DF7-B3AF24D31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BAE3AC-EC43-41EA-960F-8712560A80E9}"/>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6" name="Footer Placeholder 5">
            <a:extLst>
              <a:ext uri="{FF2B5EF4-FFF2-40B4-BE49-F238E27FC236}">
                <a16:creationId xmlns:a16="http://schemas.microsoft.com/office/drawing/2014/main" id="{B07825EA-2AF1-434C-B9A6-02212ABC7D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5D7118-97BD-4804-9892-7A5AEEFF902D}"/>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3824177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CDA80-06E0-4007-AF56-D9EE624057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397A80-55C4-4452-97AF-8F6566AF77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96B8FB-EFE5-4731-88F0-A53B18ACC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188544-176F-4161-BFF7-DFD3F70BCC99}"/>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6" name="Footer Placeholder 5">
            <a:extLst>
              <a:ext uri="{FF2B5EF4-FFF2-40B4-BE49-F238E27FC236}">
                <a16:creationId xmlns:a16="http://schemas.microsoft.com/office/drawing/2014/main" id="{B56FCE1D-ECDB-4E87-8CFB-4B7A87180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19F43D-EE6A-4743-AD7E-D3F19D34F77B}"/>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2128479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4D40-FAF9-4232-94F9-12638C4138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B23428-BB43-480B-9EB3-C034311A0B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CFE225-672B-47B1-8E91-AC88D5B87026}"/>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5" name="Footer Placeholder 4">
            <a:extLst>
              <a:ext uri="{FF2B5EF4-FFF2-40B4-BE49-F238E27FC236}">
                <a16:creationId xmlns:a16="http://schemas.microsoft.com/office/drawing/2014/main" id="{EF656CAA-B1CC-4BA3-8E0A-398233235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60336F-4D1A-49B5-A802-193015797200}"/>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1046666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F15373-320D-49F0-9C7A-78D5D8C2F7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2E1D0B-6707-4E87-A0EF-C97C5E762D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D60C3F-6775-4B65-BBC6-421A5C000460}"/>
              </a:ext>
            </a:extLst>
          </p:cNvPr>
          <p:cNvSpPr>
            <a:spLocks noGrp="1"/>
          </p:cNvSpPr>
          <p:nvPr>
            <p:ph type="dt" sz="half" idx="10"/>
          </p:nvPr>
        </p:nvSpPr>
        <p:spPr/>
        <p:txBody>
          <a:bodyPr/>
          <a:lstStyle/>
          <a:p>
            <a:fld id="{E3AC40DB-9CC5-4479-8A5C-789C9C7C2AF8}" type="datetimeFigureOut">
              <a:rPr lang="en-US" smtClean="0"/>
              <a:t>10/10/2021</a:t>
            </a:fld>
            <a:endParaRPr lang="en-US"/>
          </a:p>
        </p:txBody>
      </p:sp>
      <p:sp>
        <p:nvSpPr>
          <p:cNvPr id="5" name="Footer Placeholder 4">
            <a:extLst>
              <a:ext uri="{FF2B5EF4-FFF2-40B4-BE49-F238E27FC236}">
                <a16:creationId xmlns:a16="http://schemas.microsoft.com/office/drawing/2014/main" id="{B72A97B2-E2ED-46BA-B469-F33D68C21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6A3136-232A-4FC3-96C2-B0C7629F10EB}"/>
              </a:ext>
            </a:extLst>
          </p:cNvPr>
          <p:cNvSpPr>
            <a:spLocks noGrp="1"/>
          </p:cNvSpPr>
          <p:nvPr>
            <p:ph type="sldNum" sz="quarter" idx="12"/>
          </p:nvPr>
        </p:nvSpPr>
        <p:spPr/>
        <p:txBody>
          <a:bodyPr/>
          <a:lstStyle/>
          <a:p>
            <a:fld id="{4C9A1AA4-B999-48F4-96F9-5310C1DC8420}" type="slidenum">
              <a:rPr lang="en-US" smtClean="0"/>
              <a:t>‹#›</a:t>
            </a:fld>
            <a:endParaRPr lang="en-US"/>
          </a:p>
        </p:txBody>
      </p:sp>
    </p:spTree>
    <p:extLst>
      <p:ext uri="{BB962C8B-B14F-4D97-AF65-F5344CB8AC3E}">
        <p14:creationId xmlns:p14="http://schemas.microsoft.com/office/powerpoint/2010/main" val="3959562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B52250-AB1B-4133-9D43-32BB25943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598854-2317-4460-B47F-34BB235638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8E0134-A27A-4026-AD9E-D862B576E6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AC40DB-9CC5-4479-8A5C-789C9C7C2AF8}" type="datetimeFigureOut">
              <a:rPr lang="en-US" smtClean="0"/>
              <a:t>10/10/2021</a:t>
            </a:fld>
            <a:endParaRPr lang="en-US"/>
          </a:p>
        </p:txBody>
      </p:sp>
      <p:sp>
        <p:nvSpPr>
          <p:cNvPr id="5" name="Footer Placeholder 4">
            <a:extLst>
              <a:ext uri="{FF2B5EF4-FFF2-40B4-BE49-F238E27FC236}">
                <a16:creationId xmlns:a16="http://schemas.microsoft.com/office/drawing/2014/main" id="{3E5AAC13-5D21-4D22-80BE-8D3D4F17E6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1D9F0E-7638-4CAA-8718-2590EBAD29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9A1AA4-B999-48F4-96F9-5310C1DC8420}" type="slidenum">
              <a:rPr lang="en-US" smtClean="0"/>
              <a:t>‹#›</a:t>
            </a:fld>
            <a:endParaRPr lang="en-US"/>
          </a:p>
        </p:txBody>
      </p:sp>
    </p:spTree>
    <p:extLst>
      <p:ext uri="{BB962C8B-B14F-4D97-AF65-F5344CB8AC3E}">
        <p14:creationId xmlns:p14="http://schemas.microsoft.com/office/powerpoint/2010/main" val="1568811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FEEF-716A-416A-BCE2-03BF470B448C}"/>
              </a:ext>
            </a:extLst>
          </p:cNvPr>
          <p:cNvSpPr>
            <a:spLocks noGrp="1"/>
          </p:cNvSpPr>
          <p:nvPr>
            <p:ph type="ctrTitle"/>
          </p:nvPr>
        </p:nvSpPr>
        <p:spPr/>
        <p:txBody>
          <a:bodyPr>
            <a:normAutofit fontScale="90000"/>
          </a:bodyPr>
          <a:lstStyle/>
          <a:p>
            <a:r>
              <a:rPr lang="en-US" b="0" i="0" dirty="0">
                <a:solidFill>
                  <a:srgbClr val="2D3B45"/>
                </a:solidFill>
                <a:effectLst/>
                <a:latin typeface="Lato Extended"/>
              </a:rPr>
              <a:t>Final Project Report and Code</a:t>
            </a:r>
            <a:br>
              <a:rPr lang="en-US" b="0" i="0" dirty="0">
                <a:solidFill>
                  <a:srgbClr val="2D3B45"/>
                </a:solidFill>
                <a:effectLst/>
                <a:latin typeface="Lato Extended"/>
              </a:rPr>
            </a:br>
            <a:endParaRPr lang="en-US" dirty="0"/>
          </a:p>
        </p:txBody>
      </p:sp>
      <p:sp>
        <p:nvSpPr>
          <p:cNvPr id="3" name="Subtitle 2">
            <a:extLst>
              <a:ext uri="{FF2B5EF4-FFF2-40B4-BE49-F238E27FC236}">
                <a16:creationId xmlns:a16="http://schemas.microsoft.com/office/drawing/2014/main" id="{A6B5AD26-F236-4382-BAC0-AB99B1AD0BD7}"/>
              </a:ext>
            </a:extLst>
          </p:cNvPr>
          <p:cNvSpPr>
            <a:spLocks noGrp="1"/>
          </p:cNvSpPr>
          <p:nvPr>
            <p:ph type="subTitle" idx="1"/>
          </p:nvPr>
        </p:nvSpPr>
        <p:spPr/>
        <p:txBody>
          <a:bodyPr/>
          <a:lstStyle/>
          <a:p>
            <a:r>
              <a:rPr lang="en-US" dirty="0"/>
              <a:t>Abdullah </a:t>
            </a:r>
            <a:r>
              <a:rPr lang="en-US" dirty="0" err="1"/>
              <a:t>Kasri</a:t>
            </a:r>
            <a:endParaRPr lang="en-US" dirty="0"/>
          </a:p>
          <a:p>
            <a:r>
              <a:rPr lang="en-US" dirty="0"/>
              <a:t>Data science internship LISUM03</a:t>
            </a:r>
          </a:p>
        </p:txBody>
      </p:sp>
    </p:spTree>
    <p:extLst>
      <p:ext uri="{BB962C8B-B14F-4D97-AF65-F5344CB8AC3E}">
        <p14:creationId xmlns:p14="http://schemas.microsoft.com/office/powerpoint/2010/main" val="8534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7E640-EB43-461A-8726-9CBC4BB423AE}"/>
              </a:ext>
            </a:extLst>
          </p:cNvPr>
          <p:cNvSpPr>
            <a:spLocks noGrp="1"/>
          </p:cNvSpPr>
          <p:nvPr>
            <p:ph type="title"/>
          </p:nvPr>
        </p:nvSpPr>
        <p:spPr/>
        <p:txBody>
          <a:bodyPr/>
          <a:lstStyle/>
          <a:p>
            <a:r>
              <a:rPr lang="en-US" dirty="0"/>
              <a:t>Which patients are more likely to experience a failure while ingesting the drug?</a:t>
            </a:r>
          </a:p>
        </p:txBody>
      </p:sp>
      <p:sp>
        <p:nvSpPr>
          <p:cNvPr id="3" name="Content Placeholder 2">
            <a:extLst>
              <a:ext uri="{FF2B5EF4-FFF2-40B4-BE49-F238E27FC236}">
                <a16:creationId xmlns:a16="http://schemas.microsoft.com/office/drawing/2014/main" id="{BEEC5549-A59A-402F-892B-4CFE4576D1EB}"/>
              </a:ext>
            </a:extLst>
          </p:cNvPr>
          <p:cNvSpPr>
            <a:spLocks noGrp="1"/>
          </p:cNvSpPr>
          <p:nvPr>
            <p:ph idx="1"/>
          </p:nvPr>
        </p:nvSpPr>
        <p:spPr/>
        <p:txBody>
          <a:bodyPr/>
          <a:lstStyle/>
          <a:p>
            <a:pPr marL="0" indent="0" algn="ctr">
              <a:buNone/>
            </a:pPr>
            <a:r>
              <a:rPr lang="en-US" dirty="0"/>
              <a:t>The file Coefficint.csv provided explicitly shows how did all the factors in the dataset impact the drug’s persistency, I’ve mostly notice that most of the times where the drug didn’t function as expected occurred with patients experiencing previous problems related to immunity , bone density, cardiovascular diseases, etc. </a:t>
            </a:r>
          </a:p>
        </p:txBody>
      </p:sp>
    </p:spTree>
    <p:extLst>
      <p:ext uri="{BB962C8B-B14F-4D97-AF65-F5344CB8AC3E}">
        <p14:creationId xmlns:p14="http://schemas.microsoft.com/office/powerpoint/2010/main" val="2016420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284F4-6C6E-400C-9E0D-E3DC88D6F279}"/>
              </a:ext>
            </a:extLst>
          </p:cNvPr>
          <p:cNvSpPr>
            <a:spLocks noGrp="1"/>
          </p:cNvSpPr>
          <p:nvPr>
            <p:ph type="title"/>
          </p:nvPr>
        </p:nvSpPr>
        <p:spPr>
          <a:xfrm>
            <a:off x="0" y="1"/>
            <a:ext cx="12192000" cy="757237"/>
          </a:xfrm>
        </p:spPr>
        <p:txBody>
          <a:bodyPr/>
          <a:lstStyle/>
          <a:p>
            <a:pPr algn="ctr"/>
            <a:r>
              <a:rPr lang="en-US" dirty="0"/>
              <a:t>ROC curve (persistency vs other factors)</a:t>
            </a:r>
          </a:p>
        </p:txBody>
      </p:sp>
      <p:pic>
        <p:nvPicPr>
          <p:cNvPr id="5" name="Content Placeholder 4">
            <a:extLst>
              <a:ext uri="{FF2B5EF4-FFF2-40B4-BE49-F238E27FC236}">
                <a16:creationId xmlns:a16="http://schemas.microsoft.com/office/drawing/2014/main" id="{E8500413-74A4-45D1-885B-F25BF2E48B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57225"/>
            <a:ext cx="12192000" cy="6200775"/>
          </a:xfrm>
        </p:spPr>
      </p:pic>
    </p:spTree>
    <p:extLst>
      <p:ext uri="{BB962C8B-B14F-4D97-AF65-F5344CB8AC3E}">
        <p14:creationId xmlns:p14="http://schemas.microsoft.com/office/powerpoint/2010/main" val="1388189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5A90F-6680-43DA-8DB9-02EF4044712B}"/>
              </a:ext>
            </a:extLst>
          </p:cNvPr>
          <p:cNvSpPr>
            <a:spLocks noGrp="1"/>
          </p:cNvSpPr>
          <p:nvPr>
            <p:ph type="title"/>
          </p:nvPr>
        </p:nvSpPr>
        <p:spPr>
          <a:xfrm>
            <a:off x="0" y="1"/>
            <a:ext cx="12192000" cy="681036"/>
          </a:xfrm>
        </p:spPr>
        <p:txBody>
          <a:bodyPr>
            <a:normAutofit fontScale="90000"/>
          </a:bodyPr>
          <a:lstStyle/>
          <a:p>
            <a:pPr algn="ctr"/>
            <a:r>
              <a:rPr lang="en-US" dirty="0"/>
              <a:t>Recall curve</a:t>
            </a:r>
          </a:p>
        </p:txBody>
      </p:sp>
      <p:pic>
        <p:nvPicPr>
          <p:cNvPr id="5" name="Content Placeholder 4">
            <a:extLst>
              <a:ext uri="{FF2B5EF4-FFF2-40B4-BE49-F238E27FC236}">
                <a16:creationId xmlns:a16="http://schemas.microsoft.com/office/drawing/2014/main" id="{E3BD4132-A23B-4AB9-B4C1-28353DFD49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2000" cy="6176962"/>
          </a:xfrm>
        </p:spPr>
      </p:pic>
    </p:spTree>
    <p:extLst>
      <p:ext uri="{BB962C8B-B14F-4D97-AF65-F5344CB8AC3E}">
        <p14:creationId xmlns:p14="http://schemas.microsoft.com/office/powerpoint/2010/main" val="1595383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5454A-D1A0-45E3-940F-F9C4E9B5DC3D}"/>
              </a:ext>
            </a:extLst>
          </p:cNvPr>
          <p:cNvSpPr>
            <a:spLocks noGrp="1"/>
          </p:cNvSpPr>
          <p:nvPr>
            <p:ph type="title"/>
          </p:nvPr>
        </p:nvSpPr>
        <p:spPr>
          <a:xfrm>
            <a:off x="0" y="1"/>
            <a:ext cx="12192000" cy="681036"/>
          </a:xfrm>
        </p:spPr>
        <p:txBody>
          <a:bodyPr>
            <a:normAutofit fontScale="90000"/>
          </a:bodyPr>
          <a:lstStyle/>
          <a:p>
            <a:pPr algn="ctr"/>
            <a:r>
              <a:rPr lang="en-US" dirty="0"/>
              <a:t>Confusion matrix</a:t>
            </a:r>
          </a:p>
        </p:txBody>
      </p:sp>
      <p:pic>
        <p:nvPicPr>
          <p:cNvPr id="5" name="Content Placeholder 4">
            <a:extLst>
              <a:ext uri="{FF2B5EF4-FFF2-40B4-BE49-F238E27FC236}">
                <a16:creationId xmlns:a16="http://schemas.microsoft.com/office/drawing/2014/main" id="{BB6467CE-FC0F-4E5B-B032-32FA7CA5AC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1999" cy="6176962"/>
          </a:xfrm>
        </p:spPr>
      </p:pic>
    </p:spTree>
    <p:extLst>
      <p:ext uri="{BB962C8B-B14F-4D97-AF65-F5344CB8AC3E}">
        <p14:creationId xmlns:p14="http://schemas.microsoft.com/office/powerpoint/2010/main" val="1389974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97281B-7360-4BFE-99AF-1107949DE404}"/>
              </a:ext>
            </a:extLst>
          </p:cNvPr>
          <p:cNvSpPr>
            <a:spLocks noGrp="1"/>
          </p:cNvSpPr>
          <p:nvPr>
            <p:ph idx="1"/>
          </p:nvPr>
        </p:nvSpPr>
        <p:spPr>
          <a:xfrm>
            <a:off x="0" y="0"/>
            <a:ext cx="12192000" cy="6858000"/>
          </a:xfrm>
        </p:spPr>
        <p:txBody>
          <a:bodyPr/>
          <a:lstStyle/>
          <a:p>
            <a:pPr marL="0" indent="0" algn="ctr">
              <a:buNone/>
            </a:pPr>
            <a:r>
              <a:rPr lang="en-US" dirty="0"/>
              <a:t>More technical details are available in the EDA.</a:t>
            </a:r>
          </a:p>
          <a:p>
            <a:pPr marL="0" indent="0" algn="ctr">
              <a:buNone/>
            </a:pPr>
            <a:r>
              <a:rPr lang="en-US" dirty="0"/>
              <a:t>And if you want, you can also check out the Standard deviation.csv file in order to better understand the patterns in the model.</a:t>
            </a:r>
          </a:p>
        </p:txBody>
      </p:sp>
    </p:spTree>
    <p:extLst>
      <p:ext uri="{BB962C8B-B14F-4D97-AF65-F5344CB8AC3E}">
        <p14:creationId xmlns:p14="http://schemas.microsoft.com/office/powerpoint/2010/main" val="98632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1E722-E230-4EC1-8EFD-8FD7E4255B4A}"/>
              </a:ext>
            </a:extLst>
          </p:cNvPr>
          <p:cNvSpPr>
            <a:spLocks noGrp="1"/>
          </p:cNvSpPr>
          <p:nvPr>
            <p:ph type="title"/>
          </p:nvPr>
        </p:nvSpPr>
        <p:spPr/>
        <p:txBody>
          <a:bodyPr/>
          <a:lstStyle/>
          <a:p>
            <a:r>
              <a:rPr lang="en-US" dirty="0"/>
              <a:t>Thanks for reading!!!</a:t>
            </a:r>
          </a:p>
        </p:txBody>
      </p:sp>
    </p:spTree>
    <p:extLst>
      <p:ext uri="{BB962C8B-B14F-4D97-AF65-F5344CB8AC3E}">
        <p14:creationId xmlns:p14="http://schemas.microsoft.com/office/powerpoint/2010/main" val="2898867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Words>
  <Application>Microsoft Office PowerPoint</Application>
  <PresentationFormat>Widescreen</PresentationFormat>
  <Paragraphs>11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Lato Extended</vt:lpstr>
      <vt:lpstr>Office Theme</vt:lpstr>
      <vt:lpstr>Final Project Report and Code </vt:lpstr>
      <vt:lpstr>Which patients are more likely to experience a failure while ingesting the drug?</vt:lpstr>
      <vt:lpstr>ROC curve (persistency vs other factors)</vt:lpstr>
      <vt:lpstr>Recall curve</vt:lpstr>
      <vt:lpstr>Confusion matrix</vt:lpstr>
      <vt:lpstr>PowerPoint Presentation</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Report and Code </dc:title>
  <dc:creator>ABDULLAH KASRI</dc:creator>
  <cp:lastModifiedBy>ABDULLAH KASRI</cp:lastModifiedBy>
  <cp:revision>4</cp:revision>
  <dcterms:created xsi:type="dcterms:W3CDTF">2021-10-10T14:58:34Z</dcterms:created>
  <dcterms:modified xsi:type="dcterms:W3CDTF">2021-10-10T15:13:49Z</dcterms:modified>
</cp:coreProperties>
</file>